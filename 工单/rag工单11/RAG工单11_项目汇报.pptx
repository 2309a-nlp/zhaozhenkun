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326880" y="2743200"/>
            <a:ext cx="3200400" cy="3200400"/>
          </a:xfrm>
          <a:prstGeom prst="ellipse">
            <a:avLst/>
          </a:prstGeom>
          <a:solidFill>
            <a:srgbClr val="F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914400" y="5029200"/>
            <a:ext cx="2743200" cy="2743200"/>
          </a:xfrm>
          <a:prstGeom prst="ellipse">
            <a:avLst/>
          </a:prstGeom>
          <a:solidFill>
            <a:srgbClr val="EE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1A1A2E"/>
                </a:solidFill>
                <a:latin typeface="Microsoft YaHei"/>
              </a:defRPr>
            </a:pPr>
            <a:r>
              <a:t>Embedding 模型</a:t>
            </a:r>
            <a:br/>
            <a:r>
              <a:t>微调项目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36EF2"/>
                </a:solidFill>
                <a:latin typeface="Microsoft YaHei"/>
              </a:defRPr>
            </a:pPr>
            <a:r>
              <a:t>BGE-M3 × LoRA × 招股说明书领域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47472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B7282"/>
                </a:solidFill>
                <a:latin typeface="Microsoft YaHei"/>
              </a:defRPr>
            </a:pPr>
            <a:r>
              <a:t>工单 #11 · 人工智能 NLP-RAG · Embeddings 微调任务 V1.0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微调  ·  评估  ·  对比  ·  报告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37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项目概述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工单 #11 · 人工智能NLP-RAG · 2人日 · BGE-M3 Embedding 领域微调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5544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核心目标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920240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对 BGE-M3 嵌入模型进行 LoRA 微调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使其在招股说明书检索效果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优于原始模型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11880" y="1554480"/>
            <a:ext cx="502920" cy="502920"/>
          </a:xfrm>
          <a:prstGeom prst="ellipse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5544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领域数据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920240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武汉力源信息 · 武汉兴图新科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两份招股说明书 PDF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金融领域专业文本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37960" y="1554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5544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技术方案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1920240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PEFT/LoRA 轻量微调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对比学习 + 难负例采样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多种损失函数组合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464040" y="1554480"/>
            <a:ext cx="502920" cy="5029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64040" y="160020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554480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验收标准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1920240"/>
            <a:ext cx="1508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微调后 Recall@K ↑  MRR ↑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正负例分离度 ↑  RAG检索 ↑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所有指标有JSON报告支撑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023360"/>
            <a:ext cx="1124712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1605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评估指标体系</a:t>
            </a:r>
          </a:p>
        </p:txBody>
      </p:sp>
      <p:sp>
        <p:nvSpPr>
          <p:cNvPr id="29" name="Oval 28"/>
          <p:cNvSpPr/>
          <p:nvPr/>
        </p:nvSpPr>
        <p:spPr>
          <a:xfrm>
            <a:off x="822960" y="4617720"/>
            <a:ext cx="365760" cy="36576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Recall@K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49377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前K结果中相关文档占比</a:t>
            </a:r>
            <a:br/>
            <a:r>
              <a:t>衡量检索覆盖率</a:t>
            </a:r>
          </a:p>
        </p:txBody>
      </p:sp>
      <p:sp>
        <p:nvSpPr>
          <p:cNvPr id="33" name="Oval 32"/>
          <p:cNvSpPr/>
          <p:nvPr/>
        </p:nvSpPr>
        <p:spPr>
          <a:xfrm>
            <a:off x="3017520" y="461772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1752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MRR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49377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首个相关文档排名倒数均值</a:t>
            </a:r>
            <a:br/>
            <a:r>
              <a:t>衡量排序质量</a:t>
            </a:r>
          </a:p>
        </p:txBody>
      </p:sp>
      <p:sp>
        <p:nvSpPr>
          <p:cNvPr id="37" name="Oval 36"/>
          <p:cNvSpPr/>
          <p:nvPr/>
        </p:nvSpPr>
        <p:spPr>
          <a:xfrm>
            <a:off x="5212080" y="4617720"/>
            <a:ext cx="365760" cy="36576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21208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分离度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0" y="49377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正例相似度 - 负例相似度</a:t>
            </a:r>
            <a:br/>
            <a:r>
              <a:t>衡量语义区分能力</a:t>
            </a:r>
          </a:p>
        </p:txBody>
      </p:sp>
      <p:sp>
        <p:nvSpPr>
          <p:cNvPr id="41" name="Oval 40"/>
          <p:cNvSpPr/>
          <p:nvPr/>
        </p:nvSpPr>
        <p:spPr>
          <a:xfrm>
            <a:off x="7406640" y="4617720"/>
            <a:ext cx="365760" cy="3657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RAG Recall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63840" y="49377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真实RAG检索场景召回率</a:t>
            </a:r>
            <a:br/>
            <a:r>
              <a:t>端到端检索效果</a:t>
            </a:r>
          </a:p>
        </p:txBody>
      </p:sp>
      <p:sp>
        <p:nvSpPr>
          <p:cNvPr id="45" name="Oval 44"/>
          <p:cNvSpPr/>
          <p:nvPr/>
        </p:nvSpPr>
        <p:spPr>
          <a:xfrm>
            <a:off x="9601200" y="4617720"/>
            <a:ext cx="365760" cy="36576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0" y="4645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RAG MRR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0" y="4937760"/>
            <a:ext cx="1554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真实RAG检索场景MRR</a:t>
            </a:r>
            <a:br/>
            <a:r>
              <a:t>综合排序能力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技术背景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为什么需要微调 BGE-M3 嵌入模型？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463040"/>
            <a:ext cx="5394960" cy="493776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❌ 通用模型的局限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• BGE-M3 在通用语料上训练，对金融术语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理解不够精准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• 招股说明书包含大量专业词汇：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'发行人' '保荐机构' '募投项目' '股本结构'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• 通用向量在金融领域检索时：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召回率不足，正负例区分度低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• 直接使用会导致 RAG 系统检索质量下降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• 需要通过领域数据微调来适配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394960" cy="493776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Microsoft YaHei"/>
              </a:defRPr>
            </a:pPr>
            <a:r>
              <a:t>✅ LoRA 微调优势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🎯 参数高效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仅训练少量低秩适配器参数 (~1%)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冻结原始 BGE-M3 全部权重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⚡ 训练高效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RTX 5060 8GB 即可训练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batch=2 + 梯度累积 + FP16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🔄 灵活部署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LoRA 权重独立保存 (~几MB)</a:t>
            </a:r>
          </a:p>
          <a:p>
            <a:pPr>
              <a:defRPr sz="1200">
                <a:solidFill>
                  <a:srgbClr val="1A1A2E"/>
                </a:solidFill>
                <a:latin typeface="Microsoft YaHei"/>
              </a:defRPr>
            </a:pPr>
            <a:r>
              <a:t>  切换领域只需更换 adapter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6126480"/>
            <a:ext cx="8503920" cy="502920"/>
          </a:xfrm>
          <a:prstGeom prst="round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6172200"/>
            <a:ext cx="79552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36EF2"/>
                </a:solidFill>
                <a:latin typeface="Microsoft YaHei"/>
              </a:defRPr>
            </a:pPr>
            <a:r>
              <a:t>💡 "让通用 Embedding 模型学会金融领域的语义密码"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核心流程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5 步流水线 — 从 PDF 到评估报告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04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371600"/>
            <a:ext cx="2103120" cy="29260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594360" cy="320040"/>
          </a:xfrm>
          <a:prstGeom prst="round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813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数据准备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PDF解析→文本分块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三元组构造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MiMo问答对生成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EF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1371600"/>
            <a:ext cx="2103120" cy="29260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43200" y="1463040"/>
            <a:ext cx="594360" cy="32004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14813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基线评估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微调前BGE-M3评估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三元组指标+RAG检索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记录基准指标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EF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371600"/>
            <a:ext cx="2103120" cy="29260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0640" y="1463040"/>
            <a:ext cx="594360" cy="32004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14813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6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LoRA微调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加载BGE-M3+PEFT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对比学习训练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checkpoint-50/100/150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EF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1371600"/>
            <a:ext cx="2103120" cy="29260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498080" y="1463040"/>
            <a:ext cx="594360" cy="320040"/>
          </a:xfrm>
          <a:prstGeom prst="round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0" y="14813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4380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微调后评估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4380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加载最佳LoRA权重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重跑全部评估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双轨指标测量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256032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36EF2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84080" y="1371600"/>
            <a:ext cx="2103120" cy="29260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75520" y="1463040"/>
            <a:ext cx="594360" cy="320040"/>
          </a:xfrm>
          <a:prstGeom prst="roundRect">
            <a:avLst/>
          </a:prstGeom>
          <a:solidFill>
            <a:srgbClr val="A88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5520" y="1481328"/>
            <a:ext cx="594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78440" y="1965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1A1A2E"/>
                </a:solidFill>
                <a:latin typeface="Microsoft YaHei"/>
              </a:defRPr>
            </a:pPr>
            <a:r>
              <a:t>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2124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对比报告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292608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Before vs After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生成对比JSON</a:t>
            </a:r>
          </a:p>
          <a:p>
            <a:pPr>
              <a:defRPr sz="1000">
                <a:solidFill>
                  <a:srgbClr val="6B7282"/>
                </a:solidFill>
                <a:latin typeface="Microsoft YaHei"/>
              </a:defRPr>
            </a:pPr>
            <a:r>
              <a:t>打印评估表格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663440"/>
            <a:ext cx="11247120" cy="18288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2960" y="4800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⌨️ 运行方式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66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完整流水线:  python run.py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分步执行:    python run.py --step 1     # 仅数据准备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             python run.py --step 3     # 仅LoRA微调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             python run.py --step 5     # 仅对比报告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5166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📁 产出目录结构: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output/data/     → 训练数据(三元组+问答对)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output/models/   → LoRA权重(checkpoint/final)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output/eval/     → 评估报告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数据准备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PDF 解析 → 文本分块 → 三元组构造 → 问答对生成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05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EF2"/>
                </a:solidFill>
                <a:latin typeface="Microsoft YaHei"/>
              </a:defRPr>
            </a:pPr>
            <a:r>
              <a:t>🔧 数据处理管线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103120"/>
            <a:ext cx="457200" cy="45720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PyMuPDF 解析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提取招股说明书全文文本</a:t>
            </a:r>
            <a:br/>
            <a:r>
              <a:t>带页码标注 · 清理空页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54679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27831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15467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段落切分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47471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按段落边界切分</a:t>
            </a:r>
            <a:br/>
            <a:r>
              <a:t>chunk_size=512 · overlap=64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2062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7939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三元组构造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526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(锚点, 正例, 负例) 采样</a:t>
            </a:r>
            <a:br/>
            <a:r>
              <a:t>块内正例 + 跨块难负例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5257800"/>
            <a:ext cx="457200" cy="457200"/>
          </a:xfrm>
          <a:prstGeom prst="ellipse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3095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257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2E"/>
                </a:solidFill>
                <a:latin typeface="Microsoft YaHei"/>
              </a:defRPr>
            </a:pPr>
            <a:r>
              <a:t>数据划分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5577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train_ratio=0.8</a:t>
            </a:r>
            <a:br/>
            <a:r>
              <a:t>训练/评估集按文档划分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371600"/>
            <a:ext cx="5303520" cy="219456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📊 数据规格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2011680"/>
            <a:ext cx="4572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训练集: 80% 三元组 (按文档划分)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评估集: 20% 三元组 (未见过文档)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三元组上限: 500 对 (防止过多)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每chunk约 512 字符, overlap=64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MiMo 额外生成问答对扩充训练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931920"/>
            <a:ext cx="5303520" cy="24688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0" y="4114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Microsoft YaHei"/>
              </a:defRPr>
            </a:pPr>
            <a:r>
              <a:t>🔑 三元组构造策略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Anchor (锚点):    随机抽取的文本块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Positive (正例):   同一文档的相邻或相似块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Negative (负例):   不同文档的随机块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难点: 确保正例语义相关、负例真正无关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策略: 跨文档采样 + 段落内采样混合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LoRA 微调技术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PEFT 参数高效微调 — 仅训练 ~1% 参数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06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50292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Microsoft YaHei"/>
              </a:defRPr>
            </a:pPr>
            <a:r>
              <a:t>⚙️ LoRA 配置参数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EF2"/>
                </a:solidFill>
                <a:latin typeface="Microsoft YaHei"/>
              </a:defRPr>
            </a:pPr>
            <a:r>
              <a:t>r (秩)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774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低秩矩阵的秩，控制可训参数量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EF2"/>
                </a:solidFill>
                <a:latin typeface="Microsoft YaHei"/>
              </a:defRPr>
            </a:pPr>
            <a:r>
              <a:t>lora_alpha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880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46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缩放因子，控制LoRA影响力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EF2"/>
                </a:solidFill>
                <a:latin typeface="Microsoft YaHei"/>
              </a:defRPr>
            </a:pPr>
            <a:r>
              <a:t>target_modules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q_proj, v_proj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31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施加LoRA的注意力层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EF2"/>
                </a:solidFill>
                <a:latin typeface="Microsoft YaHei"/>
              </a:defRPr>
            </a:pPr>
            <a:r>
              <a:t>lora_dropout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4434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0.1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709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防止过拟合的dropout率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6EF2"/>
                </a:solidFill>
                <a:latin typeface="Microsoft YaHei"/>
              </a:defRPr>
            </a:pPr>
            <a:r>
              <a:t>bias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52120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Microsoft YaHei"/>
              </a:defRPr>
            </a:pPr>
            <a:r>
              <a:t>none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48639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不训练偏置项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Microsoft YaHei"/>
              </a:defRPr>
            </a:pPr>
            <a:r>
              <a:t>🖥️ 训练配置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103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Epochs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1031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65176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Batch Size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60" y="26517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32004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Gradient Accum.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2004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374903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Learning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374903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2e-4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29767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Max Length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429767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512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8463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Precision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48463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FP16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5394959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Optimizer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63840" y="5394959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AdamW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9436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GPU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594360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RTX 5060 8GB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35040"/>
            <a:ext cx="11247120" cy="594360"/>
          </a:xfrm>
          <a:prstGeom prst="round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4400" y="6108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36EF2"/>
                </a:solidFill>
                <a:latin typeface="Microsoft YaHei"/>
              </a:defRPr>
            </a:pPr>
            <a:r>
              <a:t>💾 Checkpoint 保存策略: 每 50 steps 保存 → checkpoint-50 / checkpoint-100 / checkpoint-150 → 最终最优模型 → final/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损失函数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4种对比学习损失 — 灵活组合适配不同训练策略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697480" cy="43891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02920" y="1508760"/>
            <a:ext cx="457200" cy="45720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Microsoft YaHei"/>
              </a:defRPr>
            </a:pPr>
            <a:r>
              <a:t>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Triplet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三元组损失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输入: (Anchor, Positive, Negative)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目标: d(A,P) + margin &lt; d(A,N)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让正例比负例更靠近锚点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适用: 标准三元组训练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371600"/>
            <a:ext cx="2697480" cy="43891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29000" y="150876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Microsoft YaHei"/>
              </a:defRPr>
            </a:pPr>
            <a:r>
              <a:t>⚖️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Contrastive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对比损失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输入: (Sentence1, Sentence2, Label)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正对拉近 · 负对推远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基于欧几里得距离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适用: 正负例句子对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371600"/>
            <a:ext cx="2697480" cy="43891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55080" y="150876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Microsoft YaHei"/>
              </a:defRPr>
            </a:pPr>
            <a: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Cosine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余弦相似度损失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输入: (Text1, Text2, SimilarityScore)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直接优化余弦相似度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支持连续相似度标签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适用: 带分数标注的对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371600"/>
            <a:ext cx="2697480" cy="43891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281160" y="1508760"/>
            <a:ext cx="457200" cy="457200"/>
          </a:xfrm>
          <a:prstGeom prst="ellipse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811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2E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29800" y="1508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Matryoshka Loss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1828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2"/>
                </a:solidFill>
                <a:latin typeface="Microsoft YaHei"/>
              </a:defRPr>
            </a:pPr>
            <a:r>
              <a:t>套娃嵌入损失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331720"/>
            <a:ext cx="23774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输入: 多尺度嵌入表示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支持可截断嵌入维度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1024→512→256 均可检索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适用: 灵活维度检索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6035040"/>
            <a:ext cx="11247120" cy="594360"/>
          </a:xfrm>
          <a:prstGeom prst="roundRect">
            <a:avLst/>
          </a:prstGeom>
          <a:solidFill>
            <a:srgbClr val="EE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108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💡 训练策略: 默认使用 Triplet Loss，可在 config.py 中切换为其他损失函数 — 配置值: "triplet" | "contrastive" | "cosine_sim" | "matryoshka"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MiMo LLM 辅助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使用大模型生成高质量问答对 · 扩充训练数据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08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94960" cy="50292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B236"/>
                </a:solidFill>
                <a:latin typeface="Microsoft YaHei"/>
              </a:defRPr>
            </a:pPr>
            <a:r>
              <a:t>🤖 MiMo API 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模型: MiMo-v2.5-pro (小米开放平台)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接口: Token Plan · OpenAI 兼容 API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📝 两大功能: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1️⃣ 问答对生成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输入文档块 → LLM 生成(问题,答案)对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从招股说明书提取关键信息点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生成训练用正例句子对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2️⃣ 质量评分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对生成的问答对打分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过滤低质量数据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确保训练数据质量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371600"/>
            <a:ext cx="5394960" cy="50292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EF2"/>
                </a:solidFill>
                <a:latin typeface="Microsoft YaHei"/>
              </a:defRPr>
            </a:pPr>
            <a:r>
              <a:t>📋 问答对示例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基于招股说明书内容自动生成: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Q: 武汉力源信息的主要业务是什么？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A: 武汉力源信息主要从事集成电路分销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业务，代理国内外知名半导体品牌...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Q: 武汉兴图新科的法定代表人是谁？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A: 武汉兴图新科的法定代表人为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程家明...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Q: 力源信息2021年营业收入是多少？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A: 力源信息2021年实现营业收入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约22.5亿元人民币...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双轨评估体系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三元组评估 + RAG 检索评估 — 全面衡量微调效果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09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39496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394960" cy="502920"/>
          </a:xfrm>
          <a:prstGeom prst="round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🔍 轨道一: 三元组评估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使用评估集三元组进行指标计算: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Recall@K  — 正例在Top-K中的命中率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MRR        — 第一个正例排名的倒数均值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分离度     — 正例相似度均值 - 负例相似度均值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→ 反映模型的语义区分能力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371600"/>
            <a:ext cx="539496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1371600"/>
            <a:ext cx="5394960" cy="5029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🧪 轨道二: RAG 检索评估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01168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真实 RAG 检索场景端到端评估: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RAG_Recall@K — 实际检索召回率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RAG_MRR       — 实际检索排序质量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使用预设测试问题集 (RAG_TEST_QUESTIONS)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• 完整模拟: 问题→编码→Milvus检索→评估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→ 反映真实应用场景的检索效果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11247120" cy="237744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📝 预设测试问题 (RAG_TEST_QUESTIONS)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475488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7640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709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武汉力源信息的主要业务是什么？</a:t>
            </a:r>
          </a:p>
        </p:txBody>
      </p:sp>
      <p:sp>
        <p:nvSpPr>
          <p:cNvPr id="20" name="Oval 19"/>
          <p:cNvSpPr/>
          <p:nvPr/>
        </p:nvSpPr>
        <p:spPr>
          <a:xfrm>
            <a:off x="4480560" y="4754880"/>
            <a:ext cx="274320" cy="27432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47640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709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武汉兴图新科的法定代表人是谁？</a:t>
            </a:r>
          </a:p>
        </p:txBody>
      </p:sp>
      <p:sp>
        <p:nvSpPr>
          <p:cNvPr id="23" name="Oval 22"/>
          <p:cNvSpPr/>
          <p:nvPr/>
        </p:nvSpPr>
        <p:spPr>
          <a:xfrm>
            <a:off x="8138160" y="475488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47640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47091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力源信息的营业收入变化趋势？</a:t>
            </a:r>
          </a:p>
        </p:txBody>
      </p:sp>
      <p:sp>
        <p:nvSpPr>
          <p:cNvPr id="26" name="Oval 25"/>
          <p:cNvSpPr/>
          <p:nvPr/>
        </p:nvSpPr>
        <p:spPr>
          <a:xfrm>
            <a:off x="822960" y="5257800"/>
            <a:ext cx="274320" cy="274320"/>
          </a:xfrm>
          <a:prstGeom prst="ellipse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52669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212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兴图新科的核心技术有哪些？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5257800"/>
            <a:ext cx="274320" cy="27432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80560" y="526694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52120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A1A2E"/>
                </a:solidFill>
                <a:latin typeface="Microsoft YaHei"/>
              </a:defRPr>
            </a:pPr>
            <a:r>
              <a:t>招股说明书中提到的风险因素？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训练结果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Checkpoint 管理 · 模型产出 · 保存策略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10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697480" cy="502920"/>
          </a:xfrm>
          <a:prstGeom prst="round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checkpoint-50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训练 50 steps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初期收敛阶段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1371600"/>
            <a:ext cx="2697480" cy="502920"/>
          </a:xfrm>
          <a:prstGeom prst="round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141732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checkpoint-100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103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训练 100 steps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中期优化阶段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09360" y="1371600"/>
            <a:ext cx="2697480" cy="50292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41732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checkpoint-150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训练 150 steps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末期精细阶段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371600"/>
            <a:ext cx="2697480" cy="228600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5440" y="1371600"/>
            <a:ext cx="2697480" cy="502920"/>
          </a:xfrm>
          <a:prstGeom prst="roundRect">
            <a:avLst/>
          </a:prstGeom>
          <a:solidFill>
            <a:srgbClr val="FFB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417320"/>
            <a:ext cx="2697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final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10312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最终最优模型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评估+部署使用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5486400" cy="237744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📁 模型文件结构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output/models/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├── checkpoint-50/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│   ├── adapter_config.json    # LoRA配置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│   └── adapter_model.bin      # LoRA权重(~MB)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├── checkpoint-100/             (同上结构)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├── checkpoint-150/             (同上结构)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└── final/                      ← 部署使用此模型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    └── README.md               # 微调说明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023360"/>
            <a:ext cx="5303520" cy="237744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4160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📊 训练资源消耗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5720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GPU:        NVIDIA RTX 5060 (8GB)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显存使用:   ~6.5GB (FP16 + LoRA)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可训练参数: ~2M (仅LoRA适配器)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总参数:     ~568M (BGE-M3全量冻结)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训练时间:   ~15-30min (150 steps)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LoRA权重:   ~8MB per checkpoint</a:t>
            </a:r>
          </a:p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原始模型:   ~2.2GB (冻结不修改)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94360"/>
            <a:ext cx="54864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微调前后对比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2"/>
                </a:solidFill>
                <a:latin typeface="Microsoft YaHei"/>
              </a:defRPr>
            </a:pPr>
            <a:r>
              <a:t>Before vs After — 多指标全面对比评估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2" cy="457200"/>
          </a:xfrm>
          <a:prstGeom prst="round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评估指标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微调前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微调后 Fine-tuned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变化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1417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验收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1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20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Recall@1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9202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23160"/>
            <a:ext cx="12" cy="5486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14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Recall@5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5146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017520"/>
            <a:ext cx="1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108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MRR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108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611880"/>
            <a:ext cx="12" cy="5486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分离度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60320" y="3703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703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3703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703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206240"/>
            <a:ext cx="12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RAG Recall@5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463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4800600"/>
            <a:ext cx="12" cy="548640"/>
          </a:xfrm>
          <a:prstGeom prst="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892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A1A2E"/>
                </a:solidFill>
                <a:latin typeface="Microsoft YaHei"/>
              </a:defRPr>
            </a:pPr>
            <a:r>
              <a:t>RAG MRR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5603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8463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待填入实际值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EC9B0"/>
                </a:solidFill>
                <a:latin typeface="Microsoft YaHei"/>
              </a:defRPr>
            </a:pPr>
            <a:r>
              <a:t>↑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18320" y="48920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A1A2E"/>
                </a:solidFill>
                <a:latin typeface="Microsoft YaHei"/>
              </a:defRPr>
            </a:pPr>
            <a:r>
              <a:t>提升 &gt; 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486400"/>
            <a:ext cx="11247120" cy="109728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" y="5577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📄 评估报告输出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A1A2E"/>
                </a:solidFill>
                <a:latin typeface="Microsoft YaHei"/>
              </a:defRPr>
            </a:pPr>
            <a:r>
              <a:t>output/eval/baseline_evaluation.json    — 微调前基线指标     |     output/eval/finetuned_evaluation.json  — 微调后指标     |     output/eval/comparison_report.json  — 对比分析报告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636E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A1A2E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874519"/>
            <a:ext cx="210312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5394960" cy="34747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Microsoft YaHei"/>
              </a:defRPr>
            </a:pPr>
            <a:r>
              <a:t>✅ 项目成果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完整的 Embedding 微调管线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PDF解析 → 数据准备 → 训练 → 评估 → 报告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4种损失函数可选配置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Triplet · Contrastive · Cosine · Matryoshka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LoRA 轻量微调方案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仅训练 ~1%参数 · 8GB显存可用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双轨评估体系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三元组指标 + RAG真实检索评估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跨平台兼容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Windows / WSL / Docker 全支持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86000"/>
            <a:ext cx="5394960" cy="3474720"/>
          </a:xfrm>
          <a:prstGeom prst="roundRect">
            <a:avLst/>
          </a:prstGeom>
          <a:solidFill>
            <a:srgbClr val="FAF9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68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B236"/>
                </a:solidFill>
                <a:latin typeface="Microsoft YaHei"/>
              </a:defRPr>
            </a:pPr>
            <a:r>
              <a:t>🚀 未来展望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017520"/>
            <a:ext cx="4572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扩充更多招股说明书数据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覆盖更多行业和年份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支持更多 Embedding 模型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BGE-M3 → BGE-en-icl → E5 → GTE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自动化超参搜索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学习率/秩/损失函数 组合优化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在线评估与 A/B 测试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生产环境实时对比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▸ 与 RAG 系统深度集成</a:t>
            </a:r>
          </a:p>
          <a:p>
            <a:pPr>
              <a:defRPr sz="1100">
                <a:solidFill>
                  <a:srgbClr val="1A1A2E"/>
                </a:solidFill>
                <a:latin typeface="Microsoft YaHei"/>
              </a:defRPr>
            </a:pPr>
            <a:r>
              <a:t>  端到端效果验证闭环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6126480"/>
            <a:ext cx="9418320" cy="502920"/>
          </a:xfrm>
          <a:prstGeom prst="roundRect">
            <a:avLst/>
          </a:prstGeom>
          <a:solidFill>
            <a:srgbClr val="F0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6172200"/>
            <a:ext cx="8869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36EF2"/>
                </a:solidFill>
                <a:latin typeface="Microsoft YaHei"/>
              </a:defRPr>
            </a:pPr>
            <a:r>
              <a:t>📌 工单 #11 · 人工智能 NLP-RAG · Embeddings 模型微调任务 · BGE-M3 × LoRA × 金融领域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B7282"/>
                </a:solidFill>
                <a:latin typeface="Microsoft YaHe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